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0"/>
            <a:ext cx="54864" cy="2834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1F5F9"/>
                </a:solidFill>
              </a:rPr>
              <a:t>StartupScan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</a:rPr>
              <a:t>Intelligent Startup Evaluation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10908792" cy="127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Complete system: multimodal analysis · PDF pitch deck · AI video · multi-currency subscriptions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371600"/>
            <a:ext cx="2651760" cy="4572000"/>
          </a:xfrm>
          <a:prstGeom prst="rect">
            <a:avLst/>
          </a:prstGeom>
          <a:solidFill>
            <a:srgbClr val="0F1929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5544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</a:rPr>
              <a:t>0–10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3042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3042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0540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30540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80390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AI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80390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5537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Multi-currency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45537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800">
                <a:solidFill>
                  <a:srgbClr val="F1F5F9"/>
                </a:solidFill>
              </a:rPr>
              <a:t>The Problem and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64748B"/>
                </a:solidFill>
              </a:rPr>
              <a:t>Why StartupScan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5212080" cy="4846320"/>
          </a:xfrm>
          <a:prstGeom prst="rect">
            <a:avLst/>
          </a:prstGeom>
          <a:solidFill>
            <a:srgbClr val="1E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</a:rPr>
              <a:t>❌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Manual pitch evaluation is slow and subjective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8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An accelerator receives dozens of pitches/month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74136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Inconsistent feedback between evaluators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23944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No concrete deliverables for the entrepreneur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7375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Investors miss opportunities due to lack of screening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212080" cy="4846320"/>
          </a:xfrm>
          <a:prstGeom prst="rect">
            <a:avLst/>
          </a:prstGeom>
          <a:solidFill>
            <a:srgbClr val="0B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✅  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Automated ML pipeline (scikit-learn + XGBoost)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3288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0–10 score with percentage confidence and 8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9125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Technical PDF report generated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4962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Visual PDF pitch deck with 6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50799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AI-narrated explainer video (D-ID or local)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1663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Fast deal-flow screening for investors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800">
                <a:solidFill>
                  <a:srgbClr val="F1F5F9"/>
                </a:solidFill>
              </a:rP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3611880" cy="23317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361188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Multimodal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Text, PDF, DOCX, CSV, audio, video, YouTube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134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Whisper for audio/video transcription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4378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Score + 8 categories + strengths/weaknesses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3611880" cy="23317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80160"/>
            <a:ext cx="36118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PDF Pitch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Automatic design based on industry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134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6 manual templates: Orbit, Grid, Wave…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4378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Executive cover + narrative + 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11880" cy="23317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611880" cy="64008"/>
          </a:xfrm>
          <a:prstGeom prst="rect">
            <a:avLst/>
          </a:prstGeom>
          <a:solidFill>
            <a:srgbClr val="06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4173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7A55"/>
                </a:solidFill>
              </a:rPr>
              <a:t>AI 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Modes: auto / did_only / local_only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134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D-ID API (realistic presenter) + local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84378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Presenter gender detection (deepface)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49040"/>
            <a:ext cx="3611880" cy="23317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49040"/>
            <a:ext cx="3611880" cy="64008"/>
          </a:xfrm>
          <a:prstGeom prst="rect">
            <a:avLst/>
          </a:prstGeom>
          <a:solidFill>
            <a:srgbClr val="924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8862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24E07"/>
                </a:solidFill>
              </a:rPr>
              <a:t>Idea Builder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51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Guided form: problem → solution → 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823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Narrative pitch generation (local or GPT)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1266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Public publishing + community feedback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3749040"/>
            <a:ext cx="3611880" cy="23317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3749040"/>
            <a:ext cx="3611880" cy="64008"/>
          </a:xfrm>
          <a:prstGeom prst="rect">
            <a:avLst/>
          </a:prstGeom>
          <a:solidFill>
            <a:srgbClr val="4A1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8862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D96"/>
                </a:solidFill>
              </a:rPr>
              <a:t>Investor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251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Browse by score and industry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7823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Express interest with a direct message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31266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Connection hub: pending → connected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749040"/>
            <a:ext cx="3611880" cy="23317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3749040"/>
            <a:ext cx="3611880" cy="6400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8862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D4A"/>
                </a:solidFill>
              </a:rPr>
              <a:t>Batch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251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CSV upload with multiple pitches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7823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Asynchronous processing (Celery + Redis)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531266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• Consolidated results download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800">
                <a:solidFill>
                  <a:srgbClr val="F1F5F9"/>
                </a:solidFill>
              </a:rP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64748B"/>
                </a:solidFill>
              </a:rPr>
              <a:t>Stack and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2743200" cy="365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29000" y="1280160"/>
            <a:ext cx="5029200" cy="365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3441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Django 6 + Django REST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2743200" cy="36576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645920"/>
            <a:ext cx="5029200" cy="36576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7099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Django Templates + Bootstrap 5 + Chart.js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011680"/>
            <a:ext cx="5029200" cy="365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756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7568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SQLite (dev) / PostgreSQL (prod)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77440"/>
            <a:ext cx="2743200" cy="36576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2377440"/>
            <a:ext cx="5029200" cy="36576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4414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Async queues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441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Redis + Celery + Celery Beat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2743200" cy="365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2743200"/>
            <a:ext cx="5029200" cy="365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07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ML /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8072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scikit-learn, XGBoost, pandas, numpy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29000" y="3108960"/>
            <a:ext cx="5029200" cy="36576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1729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1729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OpenAI SDK (GPT-4.1-mini)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474720"/>
            <a:ext cx="2743200" cy="365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474720"/>
            <a:ext cx="5029200" cy="365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5387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Video / Audio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5387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moviepy, OpenCV, deepface, D-ID API, Whisper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840480"/>
            <a:ext cx="2743200" cy="36576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840480"/>
            <a:ext cx="5029200" cy="36576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9044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390448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ReportLab, pypdf, python-docx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206240"/>
            <a:ext cx="2743200" cy="365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29000" y="4206240"/>
            <a:ext cx="5029200" cy="365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2702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Server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42702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Gunicorn + WhiteNoise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572000"/>
            <a:ext cx="2743200" cy="36576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29000" y="4572000"/>
            <a:ext cx="5029200" cy="36576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636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46360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Docker Compose / Render.com / Kubernetes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937760"/>
            <a:ext cx="2743200" cy="365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29000" y="4937760"/>
            <a:ext cx="5029200" cy="365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001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Payments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50017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Stripe (Checkout, Webhooks, Billing Portal)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Data flow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69680" y="1783080"/>
            <a:ext cx="3200400" cy="475488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06840" y="18562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① Multimodal submission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2377440"/>
            <a:ext cx="3200400" cy="475488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24505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② Extraction + normalization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80" y="2971800"/>
            <a:ext cx="3200400" cy="475488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3044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③ Feature engineering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69680" y="3566160"/>
            <a:ext cx="3200400" cy="475488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06840" y="36393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④ Local ML / GPT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69680" y="4160520"/>
            <a:ext cx="3200400" cy="475488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06840" y="42336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⑤ Score + DB report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9680" y="4754880"/>
            <a:ext cx="3200400" cy="475488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06840" y="48280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⑥ PDF + video + webhook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800">
                <a:solidFill>
                  <a:srgbClr val="F1F5F9"/>
                </a:solidFill>
              </a:rPr>
              <a:t>Subscription and Multi-Currency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64748B"/>
                </a:solidFill>
              </a:rPr>
              <a:t>Stripe + USD / EUR / AOA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3291840" cy="521208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29184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</a:rPr>
              <a:t>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€0 · Kz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7-day free trial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71800"/>
            <a:ext cx="2926080" cy="63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3 analyses/month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6732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Local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2569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Document 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8406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PDF pitch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280160"/>
            <a:ext cx="3291840" cy="521208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280160"/>
            <a:ext cx="329184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BASIC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$50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€46 · Kz 45,600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/month · $400/year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2971800"/>
            <a:ext cx="2926080" cy="63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1089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15 analyses/month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76732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Financial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2569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PDF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08406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Investor dashboard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1280160"/>
            <a:ext cx="3291840" cy="521208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1280160"/>
            <a:ext cx="32918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$150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€138 · Kz 136,800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/month · $1200/year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2971800"/>
            <a:ext cx="2926080" cy="63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31089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Unlimited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76732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GPT + all uploads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42569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Investor pitch 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08406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AI Video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574243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Batch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64008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Unlimited connections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</a:rPr>
              <a:t>Payment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178308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Checkout Session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23774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→ Stripe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29718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→ Webhook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356616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→ DB updated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41605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→ Notification email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800">
                <a:solidFill>
                  <a:srgbClr val="F1F5F9"/>
                </a:solidFill>
              </a:rPr>
              <a:t>Email Notification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64748B"/>
                </a:solidFill>
              </a:rPr>
              <a:t>User + Admin (automatic BCC)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08792" cy="658368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Account created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send_account_created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New user registration + trial activated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38528"/>
            <a:ext cx="10908792" cy="658368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94560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756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Trial activated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075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send_trial_started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0756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Trial period details and limits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96896"/>
            <a:ext cx="10908792" cy="658368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52928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340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Subscription activated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7340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send_subscription_activated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73405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Plan, price, tier, activation 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55264"/>
            <a:ext cx="10908792" cy="658368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511296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924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Plan updated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3924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send_subscription_updated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3924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Previous plan → new plan + price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13632"/>
            <a:ext cx="10908792" cy="658368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16966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0507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Subscription canceled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050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send_subscription_canceled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0507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Canceled plan, date, remaining access notice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572000"/>
            <a:ext cx="10908792" cy="658368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828032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Payment failure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send_payment_failed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709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Overdue plan, link to billing portal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504688"/>
            <a:ext cx="10908792" cy="640080"/>
          </a:xfrm>
          <a:prstGeom prst="rect">
            <a:avLst/>
          </a:prstGeom>
          <a:solidFill>
            <a:srgbClr val="0B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614416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📧  All emails include an automatic BCC to hangaloandre@gmail.com with a full detail table (user, email, plan, price, UTC date/time)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800">
                <a:solidFill>
                  <a:srgbClr val="F1F5F9"/>
                </a:solidFill>
              </a:rPr>
              <a:t>Machine Learning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64748B"/>
                </a:solidFill>
              </a:rPr>
              <a:t>Automatic pitch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2651760" cy="43891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2651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1  Multimodal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Free text / PDF / DOCX / CSV / 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Audio → Whisper →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Video / YouTube → audio → Whisper →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3291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280160"/>
            <a:ext cx="2651760" cy="43891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28016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2  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96596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TF-IDF over pitch (5,000 features)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432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Normalized financial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5204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Sector score + maturity + innovation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3291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280160"/>
            <a:ext cx="2651760" cy="43891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28016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3  Ensemble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6596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RandomForest + GradientBoosting + ExtraTrees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432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Smoothed voting → 0–10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5204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5-fold cross-validation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3291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280160"/>
            <a:ext cx="2651760" cy="43891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128016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4  Explainability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196596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8 categories evaluated individually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7432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Strengths and weaknesses identified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5204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Practical recommendations generated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795760" y="1280160"/>
            <a:ext cx="1234440" cy="43891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0" y="141732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GPT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0" y="1874520"/>
            <a:ext cx="1051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Automatic
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0" y="2971800"/>
            <a:ext cx="1051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GPT-4.1
mini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0" y="4069080"/>
            <a:ext cx="1051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Pitch
generated
by LLM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Training: CSV datasets (pitches + financials)  ·  60× jitter augmentation  ·  Retraining via web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800">
                <a:solidFill>
                  <a:srgbClr val="F1F5F9"/>
                </a:solidFill>
              </a:rPr>
              <a:t>User Roles (RBAC)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64748B"/>
                </a:solidFill>
              </a:rPr>
              <a:t>5 profiles with distinct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2103120" cy="46634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210312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Full platform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User and model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Created via createsuperuser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2928" y="1280160"/>
            <a:ext cx="2103120" cy="46634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52928" y="1280160"/>
            <a:ext cx="210312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1371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187452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Dashboard + all analyses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6517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Batch processing (CSV)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429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ML model management and 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5776" y="1280160"/>
            <a:ext cx="2103120" cy="46634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65776" y="1280160"/>
            <a:ext cx="21031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1371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Entrepreneur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187452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Multimodal pitch submission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26517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Idea builder + PDF pitch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3429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Investor connection 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624" y="1280160"/>
            <a:ext cx="2103120" cy="46634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78624" y="1280160"/>
            <a:ext cx="210312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1371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Investor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0064" y="187452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Deal-flow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26517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Express interest with a message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4" y="3429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Track connections pending→connected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91472" y="1280160"/>
            <a:ext cx="2103120" cy="46634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91472" y="1280160"/>
            <a:ext cx="210312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2912" y="1371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General Public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2912" y="187452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Browse public ideas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2912" y="26517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Give feedback: star rating + endorsement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2" y="3429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No pitch submission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Public registration available for: Analyst, Entrepreneur, Investor, Public  ·  Subscription controls access to premium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800">
                <a:solidFill>
                  <a:srgbClr val="F1F5F9"/>
                </a:solidFill>
              </a:rPr>
              <a:t>Internationalization (i18n)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64748B"/>
                </a:solidFill>
              </a:rPr>
              <a:t>7 languages · all system text is translatable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463040" cy="10058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</a:rPr>
              <a:t>🇵🇹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2E8F0"/>
                </a:solidFill>
              </a:rPr>
              <a:t>Portuguese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</a:rPr>
              <a:t>Default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2176272" y="1280160"/>
            <a:ext cx="1463040" cy="10058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1325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</a:rPr>
              <a:t>🇬🇧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1992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2E8F0"/>
                </a:solidFill>
              </a:rPr>
              <a:t>English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12464" y="1280160"/>
            <a:ext cx="1463040" cy="10058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3904" y="1325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</a:rPr>
              <a:t>🇷🇺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2E8F0"/>
                </a:solidFill>
              </a:rPr>
              <a:t>Русский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8656" y="1280160"/>
            <a:ext cx="1463040" cy="10058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0096" y="1325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</a:rPr>
              <a:t>🇩🇪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2E8F0"/>
                </a:solidFill>
              </a:rPr>
              <a:t>Deutsch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84848" y="1280160"/>
            <a:ext cx="1463040" cy="10058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1325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</a:rPr>
              <a:t>🇪🇸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2E8F0"/>
                </a:solidFill>
              </a:rPr>
              <a:t>Español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280160"/>
            <a:ext cx="1463040" cy="10058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325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</a:rPr>
              <a:t>🇨🇳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2E8F0"/>
                </a:solidFill>
              </a:rPr>
              <a:t>中文 (简体)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57232" y="1280160"/>
            <a:ext cx="1463040" cy="10058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48672" y="1325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</a:rPr>
              <a:t>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2E8F0"/>
                </a:solidFill>
              </a:rPr>
              <a:t>Umbundu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2" y="20299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</a:rPr>
              <a:t>Angola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5146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Translation coverage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971800"/>
            <a:ext cx="10908792" cy="5943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081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User interface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08152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Menus, buttons, labels, error messages, alerts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630168"/>
            <a:ext cx="10908792" cy="59436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7398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Forms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73989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Placeholders, field labels, validations, hints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288536"/>
            <a:ext cx="10908792" cy="5943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39826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Plans &amp; Subscriptions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398264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Plan names, features, periods, notices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946904"/>
            <a:ext cx="10908792" cy="59436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0566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Emails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05663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All notification emails follow the user’s language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605272"/>
            <a:ext cx="10908792" cy="5943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715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KPIs, section titles, status messages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6263640"/>
            <a:ext cx="10908792" cy="59436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63733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Exception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637336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Data entered by the user (startup name, pitch, etc.)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800">
                <a:solidFill>
                  <a:srgbClr val="F1F5F9"/>
                </a:solidFill>
              </a:rPr>
              <a:t>Deployment and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64748B"/>
                </a:solidFill>
              </a:rPr>
              <a:t>Docker · Render.com ·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Docker Compose —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029200" cy="5029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Django + Gunicorn  :8000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5029200" cy="50292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PostgreSQL 15      :5432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5029200" cy="5029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redis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Redis              :6379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83280"/>
            <a:ext cx="5029200" cy="50292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celery-worker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Asynchronous jobs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5029200" cy="5029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celery-beat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Periodic scheduler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CI/CD — Render.com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737360"/>
            <a:ext cx="5029200" cy="5029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1.  Push to main branch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286000"/>
            <a:ext cx="5029200" cy="50292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377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2.  GitHub Action triggered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834640"/>
            <a:ext cx="5029200" cy="5029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926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3.  Tests + manage.py check verification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383280"/>
            <a:ext cx="5029200" cy="50292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474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4.  Deploy hook → Render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931920"/>
            <a:ext cx="5029200" cy="50292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023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5.  Render installs deps + restarts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480560"/>
            <a:ext cx="5029200" cy="502920"/>
          </a:xfrm>
          <a:prstGeom prst="rect">
            <a:avLst/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572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6.  Health check on /login/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80060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Static files: WhiteNoise (CompressedManifest in prod · StaticFilesStorage in dev with DJANGO_DEBUG=1)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035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Key variables: SECRET_KEY · DJANGO_DEBUG · DATABASE_URL · STRIPE_SECRET_KEY · OPENAI_API_KEY · DID_API_KEY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800">
                <a:solidFill>
                  <a:srgbClr val="F1F5F9"/>
                </a:solidFill>
              </a:rPr>
              <a:t>Endpoint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64748B"/>
                </a:solidFill>
              </a:rPr>
              <a:t>Main platform URLs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554480" cy="246888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55448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/login/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/logout/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/register/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/set-language/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280160"/>
            <a:ext cx="1554480" cy="246888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1280160"/>
            <a:ext cx="15544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3898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7830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/analyze/form/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1945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/results/&lt;id&gt;/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6060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/results/&lt;id&gt;/pdf/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01752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/results/&lt;id&gt;/pitch/pdf/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42900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/results/&lt;id&gt;/video/generate/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280160"/>
            <a:ext cx="1554480" cy="246888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1280160"/>
            <a:ext cx="15544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13898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Batch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17830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/batch/analyze/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21945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/batch/status/&lt;id&gt;/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26060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/batch/results/&lt;id&gt;/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1280160"/>
            <a:ext cx="1554480" cy="246888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77840" y="1280160"/>
            <a:ext cx="1554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13898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ML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17830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/models/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1945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/model/retrain/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6060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/models/training/progress/&lt;id&gt;/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931920"/>
            <a:ext cx="1554480" cy="2651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931920"/>
            <a:ext cx="1554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041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Ideas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4348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/pitch/builder/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4632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/ideas/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25780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/ideas/&lt;id&gt;/feedback/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3931920"/>
            <a:ext cx="1554480" cy="2651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0" y="3931920"/>
            <a:ext cx="1554480" cy="54864"/>
          </a:xfrm>
          <a:prstGeom prst="rect">
            <a:avLst/>
          </a:prstGeom>
          <a:solidFill>
            <a:srgbClr val="924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0" y="4041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E07"/>
                </a:solidFill>
              </a:rPr>
              <a:t>Connections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44348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/investors/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484632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/connections/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525780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/investors/interest/&lt;id&gt;/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3931920"/>
            <a:ext cx="1554480" cy="265176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31920" y="3931920"/>
            <a:ext cx="1554480" cy="54864"/>
          </a:xfrm>
          <a:prstGeom prst="rect">
            <a:avLst/>
          </a:prstGeom>
          <a:solidFill>
            <a:srgbClr val="4A1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0" y="4041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D96"/>
                </a:solidFill>
              </a:rPr>
              <a:t>Subscriptions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44348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/subscription/plans/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484632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/subscription/checkout/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525780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/subscription/billing-portal/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56692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/subscription/webhook/stripe/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60807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/subscription/status/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2800">
                <a:solidFill>
                  <a:srgbClr val="F1F5F9"/>
                </a:solidFill>
              </a:rPr>
              <a:t>Roadmap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✅ 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Multimodal analysis (text, doc, audio, video, YouTube)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5856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0–10 ML score with 8 categories and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PDF pitch deck with 6 templates + automatic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0098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Narrated explainer video (D-ID + local fallback)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221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Idea builder + publishing +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39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Stripe subscription system (Trial / Basic / Pro)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6460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Multi-currency: USD, EUR, AOA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8580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Email notifications to user and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0701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Internationalization in 7 languages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2822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Docker Compose + Render.com deployment + 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🚀  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Mobile app (React Native)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957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Documented public REST API (OpenAPI/Swagger)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5409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CRM integration (HubSpot, Pipedrive)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1246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Advanced analytics dashboard (Metabase)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7083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Affiliate / referral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Multi-tenancy support (team workspaces)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0"/>
            <a:ext cx="54864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1F5F9"/>
                </a:solidFill>
              </a:rPr>
              <a:t>StartupScan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</a:rPr>
              <a:t>Complete platform · Scalable · Multi-language · Multi-currency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46120"/>
            <a:ext cx="10908792" cy="127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1737360" cy="12344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Languages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2032" y="3429000"/>
            <a:ext cx="1737360" cy="12344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349300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4114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Currencies (USD/EUR/AOA)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3429000"/>
            <a:ext cx="1737360" cy="12344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349300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4114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Subscription tiers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45936" y="3429000"/>
            <a:ext cx="1737360" cy="12344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49300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4114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Pitch templates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8" y="3429000"/>
            <a:ext cx="1737360" cy="12344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349300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114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Categories evaluated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3429000"/>
            <a:ext cx="1737360" cy="123444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349300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4114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Input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D4ED8"/>
                </a:solidFill>
              </a:rPr>
              <a:t>github.com/rickdeu/startupscan-backend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hangaloandre@gmail.com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